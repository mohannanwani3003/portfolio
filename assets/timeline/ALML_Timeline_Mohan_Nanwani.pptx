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212080"/>
            <a:ext cx="1069848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" y="5010912"/>
            <a:ext cx="411480" cy="411480"/>
          </a:xfrm>
          <a:prstGeom prst="ellipse">
            <a:avLst/>
          </a:prstGeom>
          <a:solidFill>
            <a:srgbClr val="ECAD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532120"/>
            <a:ext cx="8229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1950</a:t>
            </a:r>
          </a:p>
        </p:txBody>
      </p:sp>
      <p:sp>
        <p:nvSpPr>
          <p:cNvPr id="5" name="Oval 4"/>
          <p:cNvSpPr/>
          <p:nvPr/>
        </p:nvSpPr>
        <p:spPr>
          <a:xfrm>
            <a:off x="3291840" y="5010912"/>
            <a:ext cx="411480" cy="411480"/>
          </a:xfrm>
          <a:prstGeom prst="ellipse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0" y="5532120"/>
            <a:ext cx="8229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1956</a:t>
            </a:r>
          </a:p>
        </p:txBody>
      </p:sp>
      <p:sp>
        <p:nvSpPr>
          <p:cNvPr id="7" name="Oval 6"/>
          <p:cNvSpPr/>
          <p:nvPr/>
        </p:nvSpPr>
        <p:spPr>
          <a:xfrm>
            <a:off x="5577840" y="5010912"/>
            <a:ext cx="411480" cy="411480"/>
          </a:xfrm>
          <a:prstGeom prst="ellipse">
            <a:avLst/>
          </a:prstGeom>
          <a:solidFill>
            <a:srgbClr val="246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59" y="5532120"/>
            <a:ext cx="8229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1997</a:t>
            </a:r>
          </a:p>
        </p:txBody>
      </p:sp>
      <p:sp>
        <p:nvSpPr>
          <p:cNvPr id="9" name="Oval 8"/>
          <p:cNvSpPr/>
          <p:nvPr/>
        </p:nvSpPr>
        <p:spPr>
          <a:xfrm>
            <a:off x="7863840" y="5010912"/>
            <a:ext cx="411480" cy="411480"/>
          </a:xfrm>
          <a:prstGeom prst="ellipse">
            <a:avLst/>
          </a:prstGeom>
          <a:solidFill>
            <a:srgbClr val="CC534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5532120"/>
            <a:ext cx="8229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2012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60" y="5010912"/>
            <a:ext cx="411480" cy="411480"/>
          </a:xfrm>
          <a:prstGeom prst="ellipse">
            <a:avLst/>
          </a:prstGeom>
          <a:solidFill>
            <a:srgbClr val="ECAD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0" y="5532120"/>
            <a:ext cx="8229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2022+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731520"/>
            <a:ext cx="10515600" cy="31701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6FD7CE"/>
                </a:solidFill>
                <a:latin typeface="Aptos"/>
              </a:defRPr>
            </a:pPr>
            <a:r>
              <a:rPr lang="en-US" dirty="0"/>
              <a:t>AI &amp; ML Timelines</a:t>
            </a:r>
            <a:r>
              <a:rPr dirty="0"/>
              <a:t>  •  DISCUSSION 1.3</a:t>
            </a:r>
            <a:r>
              <a:rPr lang="en-US" dirty="0"/>
              <a:t> by Mohan Nanwani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" y="1417320"/>
            <a:ext cx="1069848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AI THROUGH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43200"/>
            <a:ext cx="996696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2200" b="0">
                <a:solidFill>
                  <a:srgbClr val="DCE6F2"/>
                </a:solidFill>
                <a:latin typeface="Aptos"/>
              </a:defRPr>
            </a:pPr>
            <a:r>
              <a:t>A visual timeline of breakthroughs, setbacks, and the rise of modern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96012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400" b="0">
                <a:solidFill>
                  <a:srgbClr val="B7C8DD"/>
                </a:solidFill>
                <a:latin typeface="Aptos"/>
              </a:defRPr>
            </a:pPr>
            <a:r>
              <a:t>From early ideas to deep learning and 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10698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900" b="0">
                <a:solidFill>
                  <a:srgbClr val="B7C8DD"/>
                </a:solidFill>
                <a:latin typeface="Aptos"/>
              </a:defRPr>
            </a:pPr>
            <a:r>
              <a:t>Prepared as an original timeline presentation • Research sources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000" b="1">
                <a:solidFill>
                  <a:srgbClr val="008B8B"/>
                </a:solidFill>
                <a:latin typeface="Aptos"/>
              </a:defRPr>
            </a:pPr>
            <a:r>
              <a:t>AI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2800" b="1">
                <a:solidFill>
                  <a:srgbClr val="142444"/>
                </a:solidFill>
                <a:latin typeface="Aptos"/>
              </a:defRPr>
            </a:pPr>
            <a:r>
              <a:rPr dirty="0"/>
              <a:t>1950–1966  |  The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0">
                <a:solidFill>
                  <a:srgbClr val="5F6C7C"/>
                </a:solidFill>
                <a:latin typeface="Aptos"/>
              </a:defRPr>
            </a:pPr>
            <a:r>
              <a:t>The field begins with questions about reasoning, learning, and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65376"/>
            <a:ext cx="36576" cy="411480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8368" y="1892808"/>
            <a:ext cx="402336" cy="402336"/>
          </a:xfrm>
          <a:prstGeom prst="ellipse">
            <a:avLst/>
          </a:prstGeom>
          <a:solidFill>
            <a:srgbClr val="246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98448" y="169164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98448" y="1691640"/>
            <a:ext cx="82296" cy="896112"/>
          </a:xfrm>
          <a:prstGeom prst="rect">
            <a:avLst/>
          </a:prstGeom>
          <a:solidFill>
            <a:srgbClr val="246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9616" y="181051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2465A5"/>
                </a:solidFill>
                <a:latin typeface="Aptos"/>
              </a:defRPr>
            </a:pPr>
            <a:r>
              <a:t>1950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0312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Alan Turing asks, “Can machines think?”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58775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In “Computing Machinery and Intelligence,” Turing proposes the imitation game, a way to discuss machine intelligence through behavior.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29514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2465A5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944368"/>
            <a:ext cx="402336" cy="402336"/>
          </a:xfrm>
          <a:prstGeom prst="ellipse">
            <a:avLst/>
          </a:prstGeom>
          <a:solidFill>
            <a:srgbClr val="246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98448" y="274320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98448" y="2743200"/>
            <a:ext cx="82296" cy="896112"/>
          </a:xfrm>
          <a:prstGeom prst="rect">
            <a:avLst/>
          </a:prstGeom>
          <a:solidFill>
            <a:srgbClr val="246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99616" y="286207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2465A5"/>
                </a:solidFill>
                <a:latin typeface="Aptos"/>
              </a:defRPr>
            </a:pPr>
            <a:r>
              <a:t>1955–1956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315468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AI gets its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63931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John McCarthy and colleagues propose a summer research project; the Dartmouth workshop helps establish AI as a research field.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34670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2465A5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995928"/>
            <a:ext cx="402336" cy="402336"/>
          </a:xfrm>
          <a:prstGeom prst="ellipse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98448" y="379476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98448" y="3794760"/>
            <a:ext cx="82296" cy="89611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99616" y="391363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1957–1959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20624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Early learning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69087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Frank Rosenblatt’s perceptron and Arthur Samuel’s checkers program show early paths toward pattern learning and machine learning.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39826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008B8B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5047488"/>
            <a:ext cx="402336" cy="402336"/>
          </a:xfrm>
          <a:prstGeom prst="ellipse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298448" y="484632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98448" y="4846320"/>
            <a:ext cx="82296" cy="89611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99616" y="496519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1966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525780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ELIZA demonstrates conversation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5742431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Joseph Weizenbaum’s program imitates a text conversation. It shows both the appeal and the limits of language-based interaction.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5449823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008B8B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107899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0">
                <a:solidFill>
                  <a:srgbClr val="5F6C7C"/>
                </a:solidFill>
                <a:latin typeface="Aptos"/>
              </a:defRPr>
            </a:pPr>
            <a:r>
              <a:t>AI THROUGH TIME  •  Sources listed on final slides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000" b="1">
                <a:solidFill>
                  <a:srgbClr val="008B8B"/>
                </a:solidFill>
                <a:latin typeface="Aptos"/>
              </a:defRPr>
            </a:pPr>
            <a:r>
              <a:t>AI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2800" b="1">
                <a:solidFill>
                  <a:srgbClr val="142444"/>
                </a:solidFill>
                <a:latin typeface="Aptos"/>
              </a:defRPr>
            </a:pPr>
            <a:r>
              <a:t>1970s–1990s  |  Boom, winter, and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0">
                <a:solidFill>
                  <a:srgbClr val="5F6C7C"/>
                </a:solidFill>
                <a:latin typeface="Aptos"/>
              </a:defRPr>
            </a:pPr>
            <a:r>
              <a:t>AI enthusiasm rises and falls; practical successes arrive in narrower tasks.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65376"/>
            <a:ext cx="36576" cy="411480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8368" y="1892808"/>
            <a:ext cx="402336" cy="402336"/>
          </a:xfrm>
          <a:prstGeom prst="ellipse">
            <a:avLst/>
          </a:prstGeom>
          <a:solidFill>
            <a:srgbClr val="CC534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98448" y="169164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98448" y="1691640"/>
            <a:ext cx="82296" cy="896112"/>
          </a:xfrm>
          <a:prstGeom prst="rect">
            <a:avLst/>
          </a:prstGeom>
          <a:solidFill>
            <a:srgbClr val="CC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9616" y="181051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CC534F"/>
                </a:solidFill>
                <a:latin typeface="Aptos"/>
              </a:defRPr>
            </a:pPr>
            <a:r>
              <a:t>1973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0312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First major AI winter begins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58775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The Lighthill report criticizes AI progress in the UK; disappointment and funding cuts contribute to a slowdown in some research areas.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29514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CC534F"/>
                </a:solidFill>
                <a:latin typeface="Aptos"/>
              </a:defRPr>
            </a:pPr>
            <a:r>
              <a:t>AI WINTER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944368"/>
            <a:ext cx="402336" cy="402336"/>
          </a:xfrm>
          <a:prstGeom prst="ellipse">
            <a:avLst/>
          </a:prstGeom>
          <a:solidFill>
            <a:srgbClr val="246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98448" y="274320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98448" y="2743200"/>
            <a:ext cx="82296" cy="896112"/>
          </a:xfrm>
          <a:prstGeom prst="rect">
            <a:avLst/>
          </a:prstGeom>
          <a:solidFill>
            <a:srgbClr val="246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99616" y="286207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2465A5"/>
                </a:solidFill>
                <a:latin typeface="Aptos"/>
              </a:defRPr>
            </a:pPr>
            <a:r>
              <a:t>1980s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315468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Expert systems boom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63931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Rule-based systems encode specialist knowledge and find commercial uses. Their maintenance costs and brittleness limit wider success.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34670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2465A5"/>
                </a:solidFill>
                <a:latin typeface="Aptos"/>
              </a:defRPr>
            </a:pPr>
            <a:r>
              <a:t>COMMERCIAL AI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995928"/>
            <a:ext cx="402336" cy="402336"/>
          </a:xfrm>
          <a:prstGeom prst="ellipse">
            <a:avLst/>
          </a:prstGeom>
          <a:solidFill>
            <a:srgbClr val="CC534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98448" y="379476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98448" y="3794760"/>
            <a:ext cx="82296" cy="896112"/>
          </a:xfrm>
          <a:prstGeom prst="rect">
            <a:avLst/>
          </a:prstGeom>
          <a:solidFill>
            <a:srgbClr val="CC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99616" y="391363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CC534F"/>
                </a:solidFill>
                <a:latin typeface="Aptos"/>
              </a:defRPr>
            </a:pPr>
            <a:r>
              <a:t>1987–1990s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20624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Second AI winter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69087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The market for specialized AI hardware collapses and expert systems disappoint. Funding and expectations fall again in many places.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39826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CC534F"/>
                </a:solidFill>
                <a:latin typeface="Aptos"/>
              </a:defRPr>
            </a:pPr>
            <a:r>
              <a:t>AI WINTER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5047488"/>
            <a:ext cx="402336" cy="402336"/>
          </a:xfrm>
          <a:prstGeom prst="ellipse">
            <a:avLst/>
          </a:prstGeom>
          <a:solidFill>
            <a:srgbClr val="ECAD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298448" y="484632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98448" y="4846320"/>
            <a:ext cx="82296" cy="896112"/>
          </a:xfrm>
          <a:prstGeom prst="rect">
            <a:avLst/>
          </a:prstGeom>
          <a:solidFill>
            <a:srgbClr val="ECA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99616" y="496519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ECAD37"/>
                </a:solidFill>
                <a:latin typeface="Aptos"/>
              </a:defRPr>
            </a:pPr>
            <a:r>
              <a:t>1997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525780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Deep Blue beats Garry Kasparov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5742431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IBM’s chess computer defeats the world champion in a match, demonstrating the power of specialized search and computing—not general human-like intelligence.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5449823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ECAD37"/>
                </a:solidFill>
                <a:latin typeface="Aptos"/>
              </a:defRPr>
            </a:pPr>
            <a:r>
              <a:t>MILESTONE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107899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0">
                <a:solidFill>
                  <a:srgbClr val="5F6C7C"/>
                </a:solidFill>
                <a:latin typeface="Aptos"/>
              </a:defRPr>
            </a:pPr>
            <a:r>
              <a:t>AI THROUGH TIME  •  Sources listed on final slides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000" b="1">
                <a:solidFill>
                  <a:srgbClr val="008B8B"/>
                </a:solidFill>
                <a:latin typeface="Aptos"/>
              </a:defRPr>
            </a:pPr>
            <a:r>
              <a:t>AI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2800" b="1">
                <a:solidFill>
                  <a:srgbClr val="142444"/>
                </a:solidFill>
                <a:latin typeface="Aptos"/>
              </a:defRPr>
            </a:pPr>
            <a:r>
              <a:t>2006–2016  |  Data and compute unlock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0">
                <a:solidFill>
                  <a:srgbClr val="5F6C7C"/>
                </a:solidFill>
                <a:latin typeface="Aptos"/>
              </a:defRPr>
            </a:pPr>
            <a:r>
              <a:t>Large datasets, GPUs, and improved neural networks lead to major breakthroughs.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65376"/>
            <a:ext cx="36576" cy="411480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8368" y="1892808"/>
            <a:ext cx="402336" cy="402336"/>
          </a:xfrm>
          <a:prstGeom prst="ellipse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98448" y="169164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98448" y="1691640"/>
            <a:ext cx="82296" cy="89611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9616" y="181051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2006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0312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Deep learning gains momentum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58775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Geoffrey Hinton and collaborators help renew interest in training multi-layer neural networks, an important step toward modern deep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29514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008B8B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944368"/>
            <a:ext cx="402336" cy="402336"/>
          </a:xfrm>
          <a:prstGeom prst="ellipse">
            <a:avLst/>
          </a:prstGeom>
          <a:solidFill>
            <a:srgbClr val="ECAD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98448" y="274320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98448" y="2743200"/>
            <a:ext cx="82296" cy="896112"/>
          </a:xfrm>
          <a:prstGeom prst="rect">
            <a:avLst/>
          </a:prstGeom>
          <a:solidFill>
            <a:srgbClr val="ECA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99616" y="286207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ECAD37"/>
                </a:solidFill>
                <a:latin typeface="Aptos"/>
              </a:defRPr>
            </a:pPr>
            <a:r>
              <a:t>2012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315468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AlexNet changes image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63931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A deep convolutional neural network wins the ImageNet competition by a large margin, helped by GPUs and large labeled datasets.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34670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ECAD37"/>
                </a:solidFill>
                <a:latin typeface="Aptos"/>
              </a:defRPr>
            </a:pPr>
            <a:r>
              <a:t>BREAKTHROUGH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995928"/>
            <a:ext cx="402336" cy="402336"/>
          </a:xfrm>
          <a:prstGeom prst="ellipse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98448" y="379476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98448" y="3794760"/>
            <a:ext cx="82296" cy="89611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99616" y="391363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2014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20624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Generative adversarial networks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69087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Ian Goodfellow and colleagues introduce GANs: two neural networks compete, helping generate increasingly realistic synthetic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39826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008B8B"/>
                </a:solidFill>
                <a:latin typeface="Aptos"/>
              </a:defRPr>
            </a:pPr>
            <a:r>
              <a:t>GENERATIVE AI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5047488"/>
            <a:ext cx="402336" cy="402336"/>
          </a:xfrm>
          <a:prstGeom prst="ellipse">
            <a:avLst/>
          </a:prstGeom>
          <a:solidFill>
            <a:srgbClr val="ECAD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298448" y="484632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98448" y="4846320"/>
            <a:ext cx="82296" cy="896112"/>
          </a:xfrm>
          <a:prstGeom prst="rect">
            <a:avLst/>
          </a:prstGeom>
          <a:solidFill>
            <a:srgbClr val="ECA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99616" y="496519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ECAD37"/>
                </a:solidFill>
                <a:latin typeface="Aptos"/>
              </a:defRPr>
            </a:pPr>
            <a:r>
              <a:t>2016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525780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AlphaGo defeats Lee Sedol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5742431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DeepMind’s AlphaGo combines deep neural networks and search to beat a top Go player, a milestone for learning-based systems.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5449823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ECAD37"/>
                </a:solidFill>
                <a:latin typeface="Aptos"/>
              </a:defRPr>
            </a:pPr>
            <a:r>
              <a:t>MILESTONE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107899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0">
                <a:solidFill>
                  <a:srgbClr val="5F6C7C"/>
                </a:solidFill>
                <a:latin typeface="Aptos"/>
              </a:defRPr>
            </a:pPr>
            <a:r>
              <a:t>AI THROUGH TIME  •  Sources listed on final slides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000" b="1">
                <a:solidFill>
                  <a:srgbClr val="008B8B"/>
                </a:solidFill>
                <a:latin typeface="Aptos"/>
              </a:defRPr>
            </a:pPr>
            <a:r>
              <a:t>AI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2800" b="1">
                <a:solidFill>
                  <a:srgbClr val="142444"/>
                </a:solidFill>
                <a:latin typeface="Aptos"/>
              </a:defRPr>
            </a:pPr>
            <a:r>
              <a:t>2017–today  |  The generative AI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0">
                <a:solidFill>
                  <a:srgbClr val="5F6C7C"/>
                </a:solidFill>
                <a:latin typeface="Aptos"/>
              </a:defRPr>
            </a:pPr>
            <a:r>
              <a:t>Transformers and large-scale models make AI more accessible and versatile.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65376"/>
            <a:ext cx="36576" cy="4114800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8368" y="1892808"/>
            <a:ext cx="402336" cy="402336"/>
          </a:xfrm>
          <a:prstGeom prst="ellipse">
            <a:avLst/>
          </a:prstGeom>
          <a:solidFill>
            <a:srgbClr val="246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98448" y="169164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98448" y="1691640"/>
            <a:ext cx="82296" cy="896112"/>
          </a:xfrm>
          <a:prstGeom prst="rect">
            <a:avLst/>
          </a:prstGeom>
          <a:solidFill>
            <a:srgbClr val="246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9616" y="181051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2465A5"/>
                </a:solidFill>
                <a:latin typeface="Aptos"/>
              </a:defRPr>
            </a:pPr>
            <a:r>
              <a:t>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0312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The Transformer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58775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The paper “Attention Is All You Need” introduces the Transformer, which becomes a key foundation for many modern language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29514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2465A5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944368"/>
            <a:ext cx="402336" cy="402336"/>
          </a:xfrm>
          <a:prstGeom prst="ellipse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98448" y="274320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98448" y="2743200"/>
            <a:ext cx="82296" cy="89611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99616" y="286207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2018–2020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315468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Large language models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63931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Models such as BERT and GPT-3 show how training on large text collections can improve language understanding and generation.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34670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008B8B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995928"/>
            <a:ext cx="402336" cy="402336"/>
          </a:xfrm>
          <a:prstGeom prst="ellipse">
            <a:avLst/>
          </a:prstGeom>
          <a:solidFill>
            <a:srgbClr val="ECAD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98448" y="379476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98448" y="3794760"/>
            <a:ext cx="82296" cy="896112"/>
          </a:xfrm>
          <a:prstGeom prst="rect">
            <a:avLst/>
          </a:prstGeom>
          <a:solidFill>
            <a:srgbClr val="ECA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99616" y="391363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ECAD37"/>
                </a:solidFill>
                <a:latin typeface="Aptos"/>
              </a:defRPr>
            </a:pPr>
            <a:r>
              <a:t>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20624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ChatGPT launches publicly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690872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A conversational interface brings generative AI to a broad audience and sparks widespread experimentation across education and industry.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398264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ECAD37"/>
                </a:solidFill>
                <a:latin typeface="Aptos"/>
              </a:defRPr>
            </a:pPr>
            <a:r>
              <a:t>PUBLIC ADOPTION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5047488"/>
            <a:ext cx="402336" cy="402336"/>
          </a:xfrm>
          <a:prstGeom prst="ellipse">
            <a:avLst/>
          </a:prstGeom>
          <a:solidFill>
            <a:srgbClr val="CC534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298448" y="4846320"/>
            <a:ext cx="101498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98448" y="4846320"/>
            <a:ext cx="82296" cy="896112"/>
          </a:xfrm>
          <a:prstGeom prst="rect">
            <a:avLst/>
          </a:prstGeom>
          <a:solidFill>
            <a:srgbClr val="CC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99616" y="4965192"/>
            <a:ext cx="9784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CC534F"/>
                </a:solidFill>
                <a:latin typeface="Aptos"/>
              </a:defRPr>
            </a:pPr>
            <a:r>
              <a:t>2023–today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5257800"/>
            <a:ext cx="97840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Multimodal and enterprise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5742431"/>
            <a:ext cx="978408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Systems increasingly work across text, images, audio, video, and software tasks; organizations explore productivity uses while managing risks.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9616" y="5449823"/>
            <a:ext cx="9784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1">
                <a:solidFill>
                  <a:srgbClr val="CC534F"/>
                </a:solidFill>
                <a:latin typeface="Aptos"/>
              </a:defRPr>
            </a:pPr>
            <a:r>
              <a:t>CURRENT ERA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107899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0">
                <a:solidFill>
                  <a:srgbClr val="5F6C7C"/>
                </a:solidFill>
                <a:latin typeface="Aptos"/>
              </a:defRPr>
            </a:pPr>
            <a:r>
              <a:t>AI THROUGH TIME  •  Sources listed on final slides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000" b="1">
                <a:solidFill>
                  <a:srgbClr val="008B8B"/>
                </a:solidFill>
                <a:latin typeface="Aptos"/>
              </a:defRPr>
            </a:pPr>
            <a:r>
              <a:t>PEOPLE AND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2800" b="1">
                <a:solidFill>
                  <a:srgbClr val="142444"/>
                </a:solidFill>
                <a:latin typeface="Aptos"/>
              </a:defRPr>
            </a:pPr>
            <a:r>
              <a:t>Major players—and what they contributed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0">
                <a:solidFill>
                  <a:srgbClr val="5F6C7C"/>
                </a:solidFill>
                <a:latin typeface="Aptos"/>
              </a:defRPr>
            </a:pPr>
            <a:r>
              <a:t>The history of AI is a network of researchers, universities, labs, and technology companies.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82296" cy="1115568"/>
          </a:xfrm>
          <a:prstGeom prst="rect">
            <a:avLst/>
          </a:prstGeom>
          <a:solidFill>
            <a:srgbClr val="246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856231"/>
            <a:ext cx="48920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2465A5"/>
                </a:solidFill>
                <a:latin typeface="Aptos"/>
              </a:defRPr>
            </a:pPr>
            <a:r>
              <a:t>CONTRIBUTOR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48840"/>
            <a:ext cx="489204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Alan Turing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33472"/>
            <a:ext cx="4892040" cy="18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Early theoretical questions about machine intelligence (1950).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82296" cy="11155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856231"/>
            <a:ext cx="48920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CONTRIBUTOR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148840"/>
            <a:ext cx="489204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John McCarthy + Dartmouth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633472"/>
            <a:ext cx="4892040" cy="18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Named and helped establish AI as a field (1955–1956).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90672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3090672"/>
            <a:ext cx="82296" cy="1115568"/>
          </a:xfrm>
          <a:prstGeom prst="rect">
            <a:avLst/>
          </a:prstGeom>
          <a:solidFill>
            <a:srgbClr val="ECA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209544"/>
            <a:ext cx="48920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ECAD37"/>
                </a:solidFill>
                <a:latin typeface="Aptos"/>
              </a:defRPr>
            </a:pPr>
            <a:r>
              <a:t>CONTRIBUTOR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502152"/>
            <a:ext cx="489204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Arthur Samuel / IBM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986783"/>
            <a:ext cx="4892040" cy="18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Pioneered a checkers program that learned from experience; IBM later built Deep Blue.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090672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81928" y="3090672"/>
            <a:ext cx="82296" cy="11155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3209544"/>
            <a:ext cx="48920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CONTRIBUTOR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502152"/>
            <a:ext cx="489204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Geoffrey Hinton + deep-learning community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986783"/>
            <a:ext cx="4892040" cy="18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Helped revive neural-network research and advance deep learning.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43983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4443983"/>
            <a:ext cx="82296" cy="1115568"/>
          </a:xfrm>
          <a:prstGeom prst="rect">
            <a:avLst/>
          </a:prstGeom>
          <a:solidFill>
            <a:srgbClr val="ECA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4562855"/>
            <a:ext cx="48920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ECAD37"/>
                </a:solidFill>
                <a:latin typeface="Aptos"/>
              </a:defRPr>
            </a:pPr>
            <a:r>
              <a:t>CONTRIBUTOR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855464"/>
            <a:ext cx="489204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Alex Krizhevsky, Ilya Sutskever, Geoffrey Hinton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340096"/>
            <a:ext cx="4892040" cy="18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Associated with AlexNet’s landmark ImageNet result (2012).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8" y="4443983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81928" y="4443983"/>
            <a:ext cx="82296" cy="1115568"/>
          </a:xfrm>
          <a:prstGeom prst="rect">
            <a:avLst/>
          </a:prstGeom>
          <a:solidFill>
            <a:srgbClr val="CC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83096" y="4562855"/>
            <a:ext cx="48920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CC534F"/>
                </a:solidFill>
                <a:latin typeface="Aptos"/>
              </a:defRPr>
            </a:pPr>
            <a:r>
              <a:t>CONTRIBUTOR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4855464"/>
            <a:ext cx="489204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Google DeepMind, OpenAI, NVIDIA, others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3096" y="5340096"/>
            <a:ext cx="4892040" cy="18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Advanced game-playing, generative models, and the computing infrastructure used to train them.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9672"/>
            <a:ext cx="107899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0">
                <a:solidFill>
                  <a:srgbClr val="5F6C7C"/>
                </a:solidFill>
                <a:latin typeface="Aptos"/>
              </a:defRPr>
            </a:pPr>
            <a:r>
              <a:t>AI THROUGH TIME  •  Sources listed on final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000" b="1">
                <a:solidFill>
                  <a:srgbClr val="008B8B"/>
                </a:solidFill>
                <a:latin typeface="Aptos"/>
              </a:defRPr>
            </a:pPr>
            <a:r>
              <a:t>WHY AI ACCELERATED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2800" b="1">
                <a:solidFill>
                  <a:srgbClr val="142444"/>
                </a:solidFill>
                <a:latin typeface="Aptos"/>
              </a:defRPr>
            </a:pPr>
            <a:r>
              <a:t>Three ingredients behind modern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0">
                <a:solidFill>
                  <a:srgbClr val="5F6C7C"/>
                </a:solidFill>
                <a:latin typeface="Aptos"/>
              </a:defRPr>
            </a:pPr>
            <a:r>
              <a:t>Recent breakthroughs came from the combination of algorithms, data, and computing resources.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82296" cy="2148840"/>
          </a:xfrm>
          <a:prstGeom prst="rect">
            <a:avLst/>
          </a:prstGeom>
          <a:solidFill>
            <a:srgbClr val="246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1546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2465A5"/>
                </a:solidFill>
                <a:latin typeface="Aptos"/>
              </a:defRPr>
            </a:pPr>
            <a:r>
              <a:t>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40280"/>
            <a:ext cx="31546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BETTER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24912"/>
            <a:ext cx="315468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Deep learning and Transformers learn useful patterns from data and model context more effectively than many earlier approaches.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82296" cy="2148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947672"/>
            <a:ext cx="31546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008B8B"/>
                </a:solidFill>
                <a:latin typeface="Aptos"/>
              </a:defRPr>
            </a:pPr>
            <a:r>
              <a:t>DRIVER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240280"/>
            <a:ext cx="31546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MORE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724912"/>
            <a:ext cx="315468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Digitized text, images, speech, and other records give models examples from which to learn—though data quality and bias matter.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28800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828800"/>
            <a:ext cx="82296" cy="2148840"/>
          </a:xfrm>
          <a:prstGeom prst="rect">
            <a:avLst/>
          </a:prstGeom>
          <a:solidFill>
            <a:srgbClr val="ECA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1947672"/>
            <a:ext cx="31546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ECAD37"/>
                </a:solidFill>
                <a:latin typeface="Aptos"/>
              </a:defRPr>
            </a:pPr>
            <a:r>
              <a:t>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240280"/>
            <a:ext cx="31546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600" b="1">
                <a:solidFill>
                  <a:srgbClr val="142444"/>
                </a:solidFill>
                <a:latin typeface="Aptos"/>
              </a:defRPr>
            </a:pPr>
            <a:r>
              <a:t>MORE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724912"/>
            <a:ext cx="315468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GPUs, cloud platforms, and distributed infrastructure make training and serving large models more feasible.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10789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800" b="1">
                <a:solidFill>
                  <a:srgbClr val="142444"/>
                </a:solidFill>
                <a:latin typeface="Aptos"/>
              </a:defRPr>
            </a:pPr>
            <a:r>
              <a:t>Where AI has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1691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892040"/>
            <a:ext cx="36576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Image analysis, research support, and clinical 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892040"/>
            <a:ext cx="1691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892040"/>
            <a:ext cx="36576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Forecasting, customer service, document workflows, and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04688"/>
            <a:ext cx="1691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Education + creativity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5504688"/>
            <a:ext cx="36576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Tutoring support, translation, drafting, image/audio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5504688"/>
            <a:ext cx="1691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200" b="1">
                <a:solidFill>
                  <a:srgbClr val="008B8B"/>
                </a:solidFill>
                <a:latin typeface="Aptos"/>
              </a:defRPr>
            </a:pPr>
            <a:r>
              <a:t>Science +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5504688"/>
            <a:ext cx="36576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0">
                <a:solidFill>
                  <a:srgbClr val="2B3441"/>
                </a:solidFill>
                <a:latin typeface="Aptos"/>
              </a:defRPr>
            </a:pPr>
            <a:r>
              <a:t>Protein research, simulation support, coding, and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107899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0">
                <a:solidFill>
                  <a:srgbClr val="5F6C7C"/>
                </a:solidFill>
                <a:latin typeface="Aptos"/>
              </a:defRPr>
            </a:pPr>
            <a:r>
              <a:t>AI THROUGH TIME  •  Sources listed on final slides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100" b="1">
                <a:solidFill>
                  <a:srgbClr val="6FD7CE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What the timeline teaches us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29384"/>
            <a:ext cx="256032" cy="256032"/>
          </a:xfrm>
          <a:prstGeom prst="ellipse">
            <a:avLst/>
          </a:prstGeom>
          <a:solidFill>
            <a:srgbClr val="ECA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874519"/>
            <a:ext cx="996696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AI developed through decades of research—not one sudden invention.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770632"/>
            <a:ext cx="256032" cy="25603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715768"/>
            <a:ext cx="996696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AI winters show the cost of overpromising and underestimating technical limits.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611879"/>
            <a:ext cx="256032" cy="256032"/>
          </a:xfrm>
          <a:prstGeom prst="ellipse">
            <a:avLst/>
          </a:prstGeom>
          <a:solidFill>
            <a:srgbClr val="246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3557015"/>
            <a:ext cx="996696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Deep learning’s rise depended on data, algorithms, GPUs, and scalable computing.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453128"/>
            <a:ext cx="256032" cy="256032"/>
          </a:xfrm>
          <a:prstGeom prst="ellipse">
            <a:avLst/>
          </a:prstGeom>
          <a:solidFill>
            <a:srgbClr val="CC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4398264"/>
            <a:ext cx="996696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Generative AI expands what machines can produce, but reliability and responsible use still matter.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62012"/>
            <a:ext cx="10515600" cy="3631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400" b="1">
                <a:solidFill>
                  <a:srgbClr val="6FD7CE"/>
                </a:solidFill>
                <a:latin typeface="Aptos"/>
              </a:defRPr>
            </a:pPr>
            <a:r>
              <a:rPr lang="en-US" dirty="0"/>
              <a:t>I think the transformer architecture introduced in 2017 was a breakthrough. What do you think?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107899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800" b="0">
                <a:solidFill>
                  <a:srgbClr val="5F6C7C"/>
                </a:solidFill>
                <a:latin typeface="Aptos"/>
              </a:defRPr>
            </a:pPr>
            <a:r>
              <a:t>AI THROUGH TIME  •  Sources listed on final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defRPr sz="1000" b="1">
                <a:solidFill>
                  <a:srgbClr val="008B8B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Credible sources for key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Institutional histories and landmark research papers used to check dates and technical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691640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44"/>
                </a:solidFill>
                <a:latin typeface="Aptos Display"/>
              </a:defRPr>
            </a:pPr>
            <a:r>
              <a:t>Stanford University — AI100, “History”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956816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0343A"/>
                </a:solidFill>
                <a:latin typeface="Aptos"/>
              </a:defRPr>
            </a:pPr>
            <a:r>
              <a:t>Turing, Dartmouth, and early AI milestones.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331720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652B4"/>
                </a:solidFill>
                <a:latin typeface="Aptos"/>
              </a:defRPr>
            </a:pPr>
            <a:r>
              <a:t>ai100.stanford.edu/about/history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44"/>
                </a:solidFill>
                <a:latin typeface="Aptos Display"/>
              </a:defRPr>
            </a:pPr>
            <a:r>
              <a:t>Our World in Data — “The brief history of AI”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81528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0343A"/>
                </a:solidFill>
                <a:latin typeface="Aptos"/>
              </a:defRPr>
            </a:pPr>
            <a:r>
              <a:t>Historical overview, compute, capabilities, and impact.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456432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652B4"/>
                </a:solidFill>
                <a:latin typeface="Aptos"/>
              </a:defRPr>
            </a:pPr>
            <a:r>
              <a:t>ourworldindata.org/brief-history-of-ai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94106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44"/>
                </a:solidFill>
                <a:latin typeface="Aptos Display"/>
              </a:defRPr>
            </a:pPr>
            <a:r>
              <a:t>IBM — “The History of Artificial Intelligence”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206240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0343A"/>
                </a:solidFill>
                <a:latin typeface="Aptos"/>
              </a:defRPr>
            </a:pPr>
            <a:r>
              <a:t>Neural networks, machine learning, expert systems, and AI winters.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5811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652B4"/>
                </a:solidFill>
                <a:latin typeface="Aptos"/>
              </a:defRPr>
            </a:pPr>
            <a:r>
              <a:t>ibm.com/think/topics/history-of-artificial-intelligence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065776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44"/>
                </a:solidFill>
                <a:latin typeface="Aptos Display"/>
              </a:defRPr>
            </a:pPr>
            <a:r>
              <a:t>IEEE Computer Society — “The Evolution of AI”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330952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0343A"/>
                </a:solidFill>
                <a:latin typeface="Aptos"/>
              </a:defRPr>
            </a:pPr>
            <a:r>
              <a:t>Background on AI approaches and generative AI.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705856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652B4"/>
                </a:solidFill>
                <a:latin typeface="Aptos"/>
              </a:defRPr>
            </a:pPr>
            <a:r>
              <a:t>computer.org/publications/tech-news/research/evolution-of-ai/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1691640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44"/>
                </a:solidFill>
                <a:latin typeface="Aptos Display"/>
              </a:defRPr>
            </a:pPr>
            <a:r>
              <a:t>National Institute of Justice — “A Brief History of AI”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1956816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0343A"/>
                </a:solidFill>
                <a:latin typeface="Aptos"/>
              </a:defRPr>
            </a:pPr>
            <a:r>
              <a:t>Government overview of AI history and applications.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2331720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652B4"/>
                </a:solidFill>
                <a:latin typeface="Aptos"/>
              </a:defRPr>
            </a:pPr>
            <a:r>
              <a:t>nij.ojp.gov/topics/articles/brief-history-artificial-intelligence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2816352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44"/>
                </a:solidFill>
                <a:latin typeface="Aptos Display"/>
              </a:defRPr>
            </a:pPr>
            <a:r>
              <a:t>Vaswani et al. (2017) — “Attention Is All You Need”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3081528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0343A"/>
                </a:solidFill>
                <a:latin typeface="Aptos"/>
              </a:defRPr>
            </a:pPr>
            <a:r>
              <a:t>Original paper introducing the Transformer architecture.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2" y="3456432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652B4"/>
                </a:solidFill>
                <a:latin typeface="Aptos"/>
              </a:defRPr>
            </a:pPr>
            <a:r>
              <a:t>arxiv.org/abs/1706.03762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5352" y="394106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44"/>
                </a:solidFill>
                <a:latin typeface="Aptos Display"/>
              </a:defRPr>
            </a:pPr>
            <a:r>
              <a:t>Krizhevsky, Sutskever &amp; Hinton (2012) — ImageNet CNN paper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4206240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0343A"/>
                </a:solidFill>
                <a:latin typeface="Aptos"/>
              </a:defRPr>
            </a:pPr>
            <a:r>
              <a:t>Research paper associated with the AlexNet breakthrough.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45811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652B4"/>
                </a:solidFill>
                <a:latin typeface="Aptos"/>
              </a:defRPr>
            </a:pPr>
            <a:r>
              <a:t>papers.nips.cc/paper/4824-imagenet-classification-with-deep-convolutional-neural-networks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5065776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44"/>
                </a:solidFill>
                <a:latin typeface="Aptos Display"/>
              </a:defRPr>
            </a:pPr>
            <a:r>
              <a:t>OpenAI — “Introducing ChatGPT” (2022)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5330952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0343A"/>
                </a:solidFill>
                <a:latin typeface="Aptos"/>
              </a:defRPr>
            </a:pPr>
            <a:r>
              <a:t>Announcement of the public research preview.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5705856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652B4"/>
                </a:solidFill>
                <a:latin typeface="Aptos"/>
              </a:defRPr>
            </a:pPr>
            <a:r>
              <a:t>openai.com/index/chatgpt/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1260</Words>
  <Application>Microsoft Office PowerPoint</Application>
  <PresentationFormat>Widescreen</PresentationFormat>
  <Paragraphs>177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Through Time: A Visual Timeline</dc:title>
  <dc:subject>Machine Learning Fundamentals Discussion 1.3</dc:subject>
  <dc:creator>Student</dc:creator>
  <cp:keywords>Artificial Intelligence, AI history, AI winters, deep learning, timeline</cp:keywords>
  <dc:description>generated using python-pptx</dc:description>
  <cp:lastModifiedBy>Mohan Nanwani</cp:lastModifiedBy>
  <cp:revision>3</cp:revision>
  <dcterms:created xsi:type="dcterms:W3CDTF">2013-01-27T09:14:16Z</dcterms:created>
  <dcterms:modified xsi:type="dcterms:W3CDTF">2026-10-23T12:58:12Z</dcterms:modified>
  <cp:category/>
</cp:coreProperties>
</file>